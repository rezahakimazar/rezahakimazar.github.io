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Reza Hakimazar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-342900" marL="342900">
              <a:buAutoNum type="arabicPeriod"/>
            </a:pPr>
            <a:r>
              <a:rPr/>
              <a:t>Culture has a sizable influence on cognition, from color perception to attention and moral decision-making (Jameson 2005), (Ji and Yap 2016), and (Sachdeva, Singh, and Medin 2011).</a:t>
            </a:r>
          </a:p>
          <a:p>
            <a:pPr lvl="0" indent="-342900" marL="342900">
              <a:buAutoNum type="arabicPeriod"/>
            </a:pPr>
            <a:r>
              <a:rPr/>
              <a:t>Previous studies on moral decision-making show significant cultural differences, even in neural representations (Han, Glover, and Jeong 2014) and (Seo, Na, and Kim 2021).</a:t>
            </a:r>
          </a:p>
          <a:p>
            <a:pPr lvl="0" indent="-342900" marL="342900">
              <a:buAutoNum type="arabicPeriod"/>
            </a:pPr>
            <a:r>
              <a:rPr/>
              <a:t>One major factor that affects moral decision-making is stress (Shapiro, Jazaieri, and Goldin 2012), (Singer et al. 2017), and (Starcke et al. 2011)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-342900" marL="342900">
              <a:buAutoNum type="arabicPeriod"/>
            </a:pPr>
            <a:r>
              <a:rPr/>
              <a:t>Stress is perceived and coped with differently across cultures (Hashim 2003) and (Vallejo et al. 2018).</a:t>
            </a:r>
          </a:p>
          <a:p>
            <a:pPr lvl="0" indent="-342900" marL="342900">
              <a:buAutoNum type="arabicPeriod"/>
            </a:pPr>
            <a:r>
              <a:rPr/>
              <a:t>However, there is little evidence about the effect of stress on moral decision-making across cultures.</a:t>
            </a:r>
          </a:p>
          <a:p>
            <a:pPr lvl="0" indent="0" marL="1270000">
              <a:buNone/>
            </a:pPr>
            <a:r>
              <a:rPr sz="2000" b="1"/>
              <a:t>What is moral decision making?</a:t>
            </a:r>
          </a:p>
          <a:p>
            <a:pPr lvl="0" indent="0" marL="1270000">
              <a:buNone/>
            </a:pPr>
            <a:r>
              <a:rPr sz="2000"/>
              <a:t>It a type of decisiom making within a moral context.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codes analyze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new slide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necessary libraries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Drift Diffusion Model Function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simulate_ddm &lt;- function(n_trials, drift_rate, threshold, non_decision_time, noise)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decisions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(n_trials)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reaction_times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(n_trials)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for (i in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n_trials)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evidence &lt;-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rt &lt;- non_decision_time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while (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(evidence)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threshold)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evidence &lt;- evidence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drift_rate,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noise)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rt &lt;- rt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0.001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Increment time by 1ms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decisions[i]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(evidence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threshold,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Decision: 1 = "Help others", 0 = "Personal Gain"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reaction_times[i] &lt;- 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Decisions =</a:t>
            </a:r>
            <a:r>
              <a:rPr>
                <a:solidFill>
                  <a:srgbClr val="003B4F"/>
                </a:solidFill>
                <a:latin typeface="Courier"/>
              </a:rPr>
              <a:t> decisions, </a:t>
            </a:r>
            <a:r>
              <a:rPr>
                <a:solidFill>
                  <a:srgbClr val="657422"/>
                </a:solidFill>
                <a:latin typeface="Courier"/>
              </a:rPr>
              <a:t>RT =</a:t>
            </a:r>
            <a:r>
              <a:rPr>
                <a:solidFill>
                  <a:srgbClr val="003B4F"/>
                </a:solidFill>
                <a:latin typeface="Courier"/>
              </a:rPr>
              <a:t> reaction_times))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Set parameters for two conditions: High moral conflict and Low moral conflict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n_trials &lt;-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Number of simulated trials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condition_1 &lt;- </a:t>
            </a:r>
            <a:r>
              <a:rPr>
                <a:solidFill>
                  <a:srgbClr val="4758AB"/>
                </a:solidFill>
                <a:latin typeface="Courier"/>
              </a:rPr>
              <a:t>simulate_ddm</a:t>
            </a:r>
            <a:r>
              <a:rPr>
                <a:solidFill>
                  <a:srgbClr val="003B4F"/>
                </a:solidFill>
                <a:latin typeface="Courier"/>
              </a:rPr>
              <a:t>(n_trials, </a:t>
            </a:r>
            <a:r>
              <a:rPr>
                <a:solidFill>
                  <a:srgbClr val="657422"/>
                </a:solidFill>
                <a:latin typeface="Courier"/>
              </a:rPr>
              <a:t>drift_rate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threshold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non_decision_time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noise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condition_2 &lt;- </a:t>
            </a:r>
            <a:r>
              <a:rPr>
                <a:solidFill>
                  <a:srgbClr val="4758AB"/>
                </a:solidFill>
                <a:latin typeface="Courier"/>
              </a:rPr>
              <a:t>simulate_ddm</a:t>
            </a:r>
            <a:r>
              <a:rPr>
                <a:solidFill>
                  <a:srgbClr val="003B4F"/>
                </a:solidFill>
                <a:latin typeface="Courier"/>
              </a:rPr>
              <a:t>(n_trials, </a:t>
            </a:r>
            <a:r>
              <a:rPr>
                <a:solidFill>
                  <a:srgbClr val="657422"/>
                </a:solidFill>
                <a:latin typeface="Courier"/>
              </a:rPr>
              <a:t>drift_rate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threshold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non_decision_time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noise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a column indicating condition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condition_1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&lt;- </a:t>
            </a:r>
            <a:r>
              <a:rPr>
                <a:solidFill>
                  <a:srgbClr val="20794D"/>
                </a:solidFill>
                <a:latin typeface="Courier"/>
              </a:rPr>
              <a:t>"High Conflict"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condition_2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&lt;- </a:t>
            </a:r>
            <a:r>
              <a:rPr>
                <a:solidFill>
                  <a:srgbClr val="20794D"/>
                </a:solidFill>
                <a:latin typeface="Courier"/>
              </a:rPr>
              <a:t>"Low Conflict"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Combine datasets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ddm_data &lt;- </a:t>
            </a:r>
            <a:r>
              <a:rPr>
                <a:solidFill>
                  <a:srgbClr val="4758AB"/>
                </a:solidFill>
                <a:latin typeface="Courier"/>
              </a:rPr>
              <a:t>rbind</a:t>
            </a:r>
            <a:r>
              <a:rPr>
                <a:solidFill>
                  <a:srgbClr val="003B4F"/>
                </a:solidFill>
                <a:latin typeface="Courier"/>
              </a:rPr>
              <a:t>(condition_1, condition_2)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summary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summary_stats &lt;- ddm_data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(Condition)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Accuracy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(Decisions), </a:t>
            </a:r>
            <a:r>
              <a:rPr>
                <a:solidFill>
                  <a:srgbClr val="657422"/>
                </a:solidFill>
                <a:latin typeface="Courier"/>
              </a:rPr>
              <a:t>Mean_RT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(RT), </a:t>
            </a:r>
            <a:r>
              <a:rPr>
                <a:solidFill>
                  <a:srgbClr val="657422"/>
                </a:solidFill>
                <a:latin typeface="Courier"/>
              </a:rPr>
              <a:t>SD_RT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(RT))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 column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right column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Hakimazar</dc:creator>
  <cp:keywords/>
  <dcterms:created xsi:type="dcterms:W3CDTF">2024-09-30T09:49:20Z</dcterms:created>
  <dcterms:modified xsi:type="dcterms:W3CDTF">2024-09-30T09:49:20Z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references.bib</vt:lpwstr>
  </property>
  <property fmtid="{D5CDD505-2E9C-101B-9397-08002B2CF9AE}" pid="5" name="by-author">
    <vt:lpwstr/>
  </property>
  <property fmtid="{D5CDD505-2E9C-101B-9397-08002B2CF9AE}" pid="6" name="editor">
    <vt:lpwstr>visual</vt:lpwstr>
  </property>
  <property fmtid="{D5CDD505-2E9C-101B-9397-08002B2CF9AE}" pid="7" name="footer">
    <vt:lpwstr>Moral Decision Making Presentation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ppress-bibliography">
    <vt:lpwstr>True</vt:lpwstr>
  </property>
  <property fmtid="{D5CDD505-2E9C-101B-9397-08002B2CF9AE}" pid="13" name="theme">
    <vt:lpwstr>league</vt:lpwstr>
  </property>
  <property fmtid="{D5CDD505-2E9C-101B-9397-08002B2CF9AE}" pid="14" name="toc-title">
    <vt:lpwstr>Table of contents</vt:lpwstr>
  </property>
  <property fmtid="{D5CDD505-2E9C-101B-9397-08002B2CF9AE}" pid="15" name="transition">
    <vt:lpwstr>fade</vt:lpwstr>
  </property>
</Properties>
</file>